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0"/>
    <p:sldId id="257" r:id="rId31"/>
    <p:sldId id="258" r:id="rId32"/>
    <p:sldId id="259" r:id="rId33"/>
    <p:sldId id="260" r:id="rId34"/>
    <p:sldId id="261" r:id="rId35"/>
    <p:sldId id="262" r:id="rId36"/>
    <p:sldId id="263" r:id="rId37"/>
    <p:sldId id="264" r:id="rId38"/>
    <p:sldId id="265" r:id="rId39"/>
    <p:sldId id="266" r:id="rId40"/>
    <p:sldId id="267" r:id="rId41"/>
    <p:sldId id="268" r:id="rId42"/>
    <p:sldId id="269" r:id="rId43"/>
    <p:sldId id="270" r:id="rId44"/>
    <p:sldId id="271" r:id="rId45"/>
    <p:sldId id="272" r:id="rId46"/>
    <p:sldId id="273" r:id="rId47"/>
    <p:sldId id="274" r:id="rId48"/>
    <p:sldId id="275" r:id="rId49"/>
  </p:sldIdLst>
  <p:sldSz cx="18288000" cy="10287000"/>
  <p:notesSz cx="6858000" cy="9144000"/>
  <p:embeddedFontLst>
    <p:embeddedFont>
      <p:font typeface="Arial Bold" panose="020B0604020202020204" charset="0"/>
      <p:regular r:id="rId20"/>
    </p:embeddedFont>
    <p:embeddedFont>
      <p:font typeface="Barlow SemiCondensed Bold" panose="020B0604020202020204" charset="0"/>
      <p:regular r:id="rId21"/>
    </p:embeddedFont>
    <p:embeddedFont>
      <p:font typeface="Poppins Bold" panose="020B0604020202020204" charset="0"/>
      <p:regular r:id="rId22"/>
    </p:embeddedFont>
    <p:embeddedFont>
      <p:font typeface="Poppins Medium" panose="00000600000000000000" pitchFamily="2" charset="0"/>
      <p:regular r:id="rId23"/>
    </p:embeddedFont>
    <p:embeddedFont>
      <p:font typeface="Roboto" panose="02000000000000000000" pitchFamily="2" charset="0"/>
      <p:regular r:id="rId24"/>
    </p:embeddedFont>
    <p:embeddedFont>
      <p:font typeface="Roboto Bold" panose="02000000000000000000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presProps" Target="presProps.xml"/><Relationship Id="rId21" Type="http://schemas.openxmlformats.org/officeDocument/2006/relationships/font" Target="fonts/font2.fntdata"/><Relationship Id="rId25" Type="http://schemas.openxmlformats.org/officeDocument/2006/relationships/font" Target="fonts/font6.fntdata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8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7750" t="-93604" b="-4414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028700" y="8634719"/>
            <a:ext cx="3015493" cy="979296"/>
          </a:xfrm>
          <a:custGeom>
            <a:avLst/>
            <a:gdLst/>
            <a:ahLst/>
            <a:cxnLst/>
            <a:rect l="l" t="t" r="r" b="b"/>
            <a:pathLst>
              <a:path w="3015493" h="979296">
                <a:moveTo>
                  <a:pt x="0" y="0"/>
                </a:moveTo>
                <a:lnTo>
                  <a:pt x="3015493" y="0"/>
                </a:lnTo>
                <a:lnTo>
                  <a:pt x="3015493" y="979296"/>
                </a:lnTo>
                <a:lnTo>
                  <a:pt x="0" y="979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 descr="Image"/>
          <p:cNvSpPr/>
          <p:nvPr/>
        </p:nvSpPr>
        <p:spPr>
          <a:xfrm>
            <a:off x="9261901" y="1140062"/>
            <a:ext cx="7997399" cy="8229600"/>
          </a:xfrm>
          <a:custGeom>
            <a:avLst/>
            <a:gdLst/>
            <a:ahLst/>
            <a:cxnLst/>
            <a:rect l="l" t="t" r="r" b="b"/>
            <a:pathLst>
              <a:path w="7997399" h="8229600">
                <a:moveTo>
                  <a:pt x="0" y="0"/>
                </a:moveTo>
                <a:lnTo>
                  <a:pt x="7997399" y="0"/>
                </a:lnTo>
                <a:lnTo>
                  <a:pt x="799739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2138213" y="4300000"/>
            <a:ext cx="6500000" cy="123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6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JavaScript</a:t>
            </a:r>
          </a:p>
        </p:txBody>
      </p:sp>
      <p:sp>
        <p:nvSpPr>
          <p:cNvPr id="90" name="Sub"/>
          <p:cNvSpPr txBox="1"/>
          <p:nvPr/>
        </p:nvSpPr>
        <p:spPr>
          <a:xfrm>
            <a:off x="2138213" y="5620000"/>
            <a:ext cx="6100000" cy="14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4000"/>
              </a:lnSpc>
            </a:pPr>
            <a:r>
              <a:rPr lang="pt-BR" sz="3000" b="1">
                <a:solidFill>
                  <a:srgbClr val="000000"/>
                </a:solidFill>
                <a:latin typeface="Arial Bold"/>
                <a:cs typeface="Arial Bold"/>
              </a:rPr>
              <a:t>Aula 1: tipos, operadores, arrays e funções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28700" y="760000"/>
            <a:ext cx="1623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62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O que vamos ver hoje</a:t>
            </a:r>
          </a:p>
        </p:txBody>
      </p:sp>
      <p:sp>
        <p:nvSpPr>
          <p:cNvPr id="4" name="Shape 4"/>
          <p:cNvSpPr/>
          <p:nvPr/>
        </p:nvSpPr>
        <p:spPr>
          <a:xfrm>
            <a:off x="1028700" y="2500000"/>
            <a:ext cx="7885300" cy="11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5"/>
          <p:cNvSpPr/>
          <p:nvPr/>
        </p:nvSpPr>
        <p:spPr>
          <a:xfrm>
            <a:off x="1328700" y="2740000"/>
            <a:ext cx="700000" cy="70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1328700" y="2885000"/>
            <a:ext cx="70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400"/>
              </a:lnSpc>
            </a:pPr>
            <a:r>
              <a:rPr lang="pt-BR" sz="2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08700" y="2880000"/>
            <a:ext cx="6405300" cy="5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Tipos primitivos</a:t>
            </a:r>
          </a:p>
        </p:txBody>
      </p:sp>
      <p:sp>
        <p:nvSpPr>
          <p:cNvPr id="8" name="Shape 8"/>
          <p:cNvSpPr/>
          <p:nvPr/>
        </p:nvSpPr>
        <p:spPr>
          <a:xfrm>
            <a:off x="9374000" y="2500000"/>
            <a:ext cx="7885300" cy="11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9"/>
          <p:cNvSpPr/>
          <p:nvPr/>
        </p:nvSpPr>
        <p:spPr>
          <a:xfrm>
            <a:off x="9674000" y="2740000"/>
            <a:ext cx="700000" cy="70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Box 10"/>
          <p:cNvSpPr txBox="1"/>
          <p:nvPr/>
        </p:nvSpPr>
        <p:spPr>
          <a:xfrm>
            <a:off x="9674000" y="2885000"/>
            <a:ext cx="70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400"/>
              </a:lnSpc>
            </a:pPr>
            <a:r>
              <a:rPr lang="pt-BR" sz="2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54000" y="2880000"/>
            <a:ext cx="6405300" cy="5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Imprimindo no console</a:t>
            </a:r>
          </a:p>
        </p:txBody>
      </p:sp>
      <p:sp>
        <p:nvSpPr>
          <p:cNvPr id="12" name="Shape 12"/>
          <p:cNvSpPr/>
          <p:nvPr/>
        </p:nvSpPr>
        <p:spPr>
          <a:xfrm>
            <a:off x="1028700" y="3930000"/>
            <a:ext cx="7885300" cy="11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3"/>
          <p:cNvSpPr/>
          <p:nvPr/>
        </p:nvSpPr>
        <p:spPr>
          <a:xfrm>
            <a:off x="1328700" y="4170000"/>
            <a:ext cx="700000" cy="70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Box 14"/>
          <p:cNvSpPr txBox="1"/>
          <p:nvPr/>
        </p:nvSpPr>
        <p:spPr>
          <a:xfrm>
            <a:off x="1328700" y="4315000"/>
            <a:ext cx="70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400"/>
              </a:lnSpc>
            </a:pPr>
            <a:r>
              <a:rPr lang="pt-BR" sz="2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8700" y="4310000"/>
            <a:ext cx="6405300" cy="5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Operadores aritméticos</a:t>
            </a:r>
          </a:p>
        </p:txBody>
      </p:sp>
      <p:sp>
        <p:nvSpPr>
          <p:cNvPr id="16" name="Shape 16"/>
          <p:cNvSpPr/>
          <p:nvPr/>
        </p:nvSpPr>
        <p:spPr>
          <a:xfrm>
            <a:off x="9374000" y="3930000"/>
            <a:ext cx="7885300" cy="11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7"/>
          <p:cNvSpPr/>
          <p:nvPr/>
        </p:nvSpPr>
        <p:spPr>
          <a:xfrm>
            <a:off x="9674000" y="4170000"/>
            <a:ext cx="700000" cy="70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Box 18"/>
          <p:cNvSpPr txBox="1"/>
          <p:nvPr/>
        </p:nvSpPr>
        <p:spPr>
          <a:xfrm>
            <a:off x="9674000" y="4315000"/>
            <a:ext cx="70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400"/>
              </a:lnSpc>
            </a:pPr>
            <a:r>
              <a:rPr lang="pt-BR" sz="2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54000" y="4310000"/>
            <a:ext cx="6405300" cy="5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Operadores de atribuição</a:t>
            </a:r>
          </a:p>
        </p:txBody>
      </p:sp>
      <p:sp>
        <p:nvSpPr>
          <p:cNvPr id="20" name="Shape 20"/>
          <p:cNvSpPr/>
          <p:nvPr/>
        </p:nvSpPr>
        <p:spPr>
          <a:xfrm>
            <a:off x="1028700" y="5360000"/>
            <a:ext cx="7885300" cy="11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21"/>
          <p:cNvSpPr/>
          <p:nvPr/>
        </p:nvSpPr>
        <p:spPr>
          <a:xfrm>
            <a:off x="1328700" y="5600000"/>
            <a:ext cx="700000" cy="70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Box 22"/>
          <p:cNvSpPr txBox="1"/>
          <p:nvPr/>
        </p:nvSpPr>
        <p:spPr>
          <a:xfrm>
            <a:off x="1328700" y="5745000"/>
            <a:ext cx="70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400"/>
              </a:lnSpc>
            </a:pPr>
            <a:r>
              <a:rPr lang="pt-BR" sz="2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08700" y="5740000"/>
            <a:ext cx="6405300" cy="5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Comparação e lógicos</a:t>
            </a:r>
          </a:p>
        </p:txBody>
      </p:sp>
      <p:sp>
        <p:nvSpPr>
          <p:cNvPr id="24" name="Shape 24"/>
          <p:cNvSpPr/>
          <p:nvPr/>
        </p:nvSpPr>
        <p:spPr>
          <a:xfrm>
            <a:off x="9374000" y="5360000"/>
            <a:ext cx="7885300" cy="11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5"/>
          <p:cNvSpPr/>
          <p:nvPr/>
        </p:nvSpPr>
        <p:spPr>
          <a:xfrm>
            <a:off x="9674000" y="5600000"/>
            <a:ext cx="700000" cy="70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Box 26"/>
          <p:cNvSpPr txBox="1"/>
          <p:nvPr/>
        </p:nvSpPr>
        <p:spPr>
          <a:xfrm>
            <a:off x="9674000" y="5745000"/>
            <a:ext cx="70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400"/>
              </a:lnSpc>
            </a:pPr>
            <a:r>
              <a:rPr lang="pt-BR" sz="2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554000" y="5740000"/>
            <a:ext cx="6405300" cy="5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Template strings</a:t>
            </a:r>
          </a:p>
        </p:txBody>
      </p:sp>
      <p:sp>
        <p:nvSpPr>
          <p:cNvPr id="28" name="Shape 28"/>
          <p:cNvSpPr/>
          <p:nvPr/>
        </p:nvSpPr>
        <p:spPr>
          <a:xfrm>
            <a:off x="1028700" y="6790000"/>
            <a:ext cx="7885300" cy="11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9"/>
          <p:cNvSpPr/>
          <p:nvPr/>
        </p:nvSpPr>
        <p:spPr>
          <a:xfrm>
            <a:off x="1328700" y="7030000"/>
            <a:ext cx="700000" cy="70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Box 30"/>
          <p:cNvSpPr txBox="1"/>
          <p:nvPr/>
        </p:nvSpPr>
        <p:spPr>
          <a:xfrm>
            <a:off x="1328700" y="7175000"/>
            <a:ext cx="70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400"/>
              </a:lnSpc>
            </a:pPr>
            <a:r>
              <a:rPr lang="pt-BR" sz="2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07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208700" y="7170000"/>
            <a:ext cx="6405300" cy="5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Arrays</a:t>
            </a:r>
          </a:p>
        </p:txBody>
      </p:sp>
      <p:sp>
        <p:nvSpPr>
          <p:cNvPr id="32" name="Shape 32"/>
          <p:cNvSpPr/>
          <p:nvPr/>
        </p:nvSpPr>
        <p:spPr>
          <a:xfrm>
            <a:off x="9374000" y="6790000"/>
            <a:ext cx="7885300" cy="11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3"/>
          <p:cNvSpPr/>
          <p:nvPr/>
        </p:nvSpPr>
        <p:spPr>
          <a:xfrm>
            <a:off x="9674000" y="7030000"/>
            <a:ext cx="700000" cy="70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Box 34"/>
          <p:cNvSpPr txBox="1"/>
          <p:nvPr/>
        </p:nvSpPr>
        <p:spPr>
          <a:xfrm>
            <a:off x="9674000" y="7175000"/>
            <a:ext cx="70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400"/>
              </a:lnSpc>
            </a:pPr>
            <a:r>
              <a:rPr lang="pt-BR" sz="2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08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54000" y="7170000"/>
            <a:ext cx="6405300" cy="5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Funções declaradas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Tipos primitivos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São os tipos básicos de dado que o JavaScript já entende sem você criar nada.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620000"/>
            <a:ext cx="7000000" cy="2667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520700" indent="-520700" algn="l">
              <a:lnSpc>
                <a:spcPts val="4200"/>
              </a:lnSpc>
              <a:buFont typeface="Arial"/>
              <a:buChar char="•"/>
            </a:pPr>
            <a:r>
              <a:rPr lang="pt-BR" sz="2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string </a:t>
            </a:r>
            <a:r>
              <a:rPr lang="pt-BR" sz="26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— texto entre aspas</a:t>
            </a:r>
          </a:p>
          <a:p>
            <a:pPr marL="520700" indent="-520700" algn="l">
              <a:lnSpc>
                <a:spcPts val="4200"/>
              </a:lnSpc>
              <a:buFont typeface="Arial"/>
              <a:buChar char="•"/>
            </a:pPr>
            <a:r>
              <a:rPr lang="pt-BR" sz="2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number </a:t>
            </a:r>
            <a:r>
              <a:rPr lang="pt-BR" sz="26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— inteiros ou decimais</a:t>
            </a:r>
          </a:p>
          <a:p>
            <a:pPr marL="520700" indent="-520700" algn="l">
              <a:lnSpc>
                <a:spcPts val="4200"/>
              </a:lnSpc>
              <a:buFont typeface="Arial"/>
              <a:buChar char="•"/>
            </a:pPr>
            <a:r>
              <a:rPr lang="pt-BR" sz="2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boolean </a:t>
            </a:r>
            <a:r>
              <a:rPr lang="pt-BR" sz="26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— só true ou false</a:t>
            </a:r>
          </a:p>
          <a:p>
            <a:pPr marL="520700" indent="-520700" algn="l">
              <a:lnSpc>
                <a:spcPts val="4200"/>
              </a:lnSpc>
              <a:buFont typeface="Arial"/>
              <a:buChar char="•"/>
            </a:pPr>
            <a:r>
              <a:rPr lang="pt-BR" sz="2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undefined </a:t>
            </a:r>
            <a:r>
              <a:rPr lang="pt-BR" sz="26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— criada, sem valor</a:t>
            </a:r>
          </a:p>
          <a:p>
            <a:pPr marL="520700" indent="-520700" algn="l">
              <a:lnSpc>
                <a:spcPts val="4200"/>
              </a:lnSpc>
              <a:buFont typeface="Arial"/>
              <a:buChar char="•"/>
            </a:pPr>
            <a:r>
              <a:rPr lang="pt-BR" sz="26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null </a:t>
            </a:r>
            <a:r>
              <a:rPr lang="pt-BR" sz="26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— vazio de propósito</a:t>
            </a:r>
          </a:p>
        </p:txBody>
      </p:sp>
      <p:sp>
        <p:nvSpPr>
          <p:cNvPr id="8" name="Shape 8"/>
          <p:cNvSpPr/>
          <p:nvPr/>
        </p:nvSpPr>
        <p:spPr>
          <a:xfrm>
            <a:off x="8488700" y="2500000"/>
            <a:ext cx="8770600" cy="484616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8868700" y="2840000"/>
            <a:ext cx="80106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tipos.js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68700" y="3400000"/>
            <a:ext cx="8010600" cy="356616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nome = </a:t>
            </a:r>
            <a:r>
              <a:rPr lang="pt-BR" sz="24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"Ana"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idade =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20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media =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8.5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matriculado = </a:t>
            </a: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true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apelido = </a:t>
            </a: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null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nota;   </a:t>
            </a:r>
            <a:r>
              <a:rPr lang="pt-BR" sz="24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undefined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</a:t>
            </a: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typeof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nome);   </a:t>
            </a:r>
            <a:r>
              <a:rPr lang="pt-BR" sz="24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"string"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</a:t>
            </a: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typeof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idade);  </a:t>
            </a:r>
            <a:r>
              <a:rPr lang="pt-BR" sz="24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"number"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Tipos: 3 armadilhas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Erros que todo iniciante comete no primeiro dia.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000000" cy="355838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2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no console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240000" cy="227838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990"/>
              </a:lnSpc>
            </a:pPr>
            <a:r>
              <a:rPr lang="pt-BR" sz="23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"20"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+ </a:t>
            </a:r>
            <a:r>
              <a:rPr lang="pt-BR" sz="23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5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</a:t>
            </a:r>
            <a:r>
              <a:rPr lang="pt-BR" sz="23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"205"  (juntou texto!)</a:t>
            </a:r>
          </a:p>
          <a:p>
            <a:pPr algn="l">
              <a:lnSpc>
                <a:spcPts val="2990"/>
              </a:lnSpc>
            </a:pPr>
            <a:r>
              <a:rPr lang="pt-BR" sz="23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"20"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- </a:t>
            </a:r>
            <a:r>
              <a:rPr lang="pt-BR" sz="23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5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</a:t>
            </a:r>
            <a:r>
              <a:rPr lang="pt-BR" sz="23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15     (converteu)</a:t>
            </a:r>
          </a:p>
          <a:p>
            <a:pPr algn="l">
              <a:lnSpc>
                <a:spcPts val="2990"/>
              </a:lnSpc>
            </a:pP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Number(</a:t>
            </a:r>
            <a:r>
              <a:rPr lang="pt-BR" sz="23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"20"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) + </a:t>
            </a:r>
            <a:r>
              <a:rPr lang="pt-BR" sz="23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5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</a:t>
            </a:r>
            <a:r>
              <a:rPr lang="pt-BR" sz="23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25  (jeito certo)</a:t>
            </a:r>
          </a:p>
          <a:p>
            <a:pPr algn="l">
              <a:lnSpc>
                <a:spcPts val="2990"/>
              </a:lnSpc>
            </a:pP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990"/>
              </a:lnSpc>
            </a:pPr>
            <a:r>
              <a:rPr lang="pt-BR" sz="23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typeof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3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null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</a:t>
            </a:r>
            <a:r>
              <a:rPr lang="pt-BR" sz="23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"object"</a:t>
            </a:r>
          </a:p>
          <a:p>
            <a:pPr algn="l">
              <a:lnSpc>
                <a:spcPts val="2990"/>
              </a:lnSpc>
            </a:pPr>
            <a:r>
              <a:rPr lang="pt-BR" sz="23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typeof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pt-BR" sz="23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undefined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</a:t>
            </a:r>
            <a:r>
              <a:rPr lang="pt-BR" sz="23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"undefined"</a:t>
            </a:r>
          </a:p>
        </p:txBody>
      </p:sp>
      <p:sp>
        <p:nvSpPr>
          <p:cNvPr id="10" name="Shape 10"/>
          <p:cNvSpPr/>
          <p:nvPr/>
        </p:nvSpPr>
        <p:spPr>
          <a:xfrm>
            <a:off x="9488700" y="2500000"/>
            <a:ext cx="77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9768700" y="2780000"/>
            <a:ext cx="72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+ com texto vira texto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Se um dos lados é string, o + concatena em vez de somar. Use Number() para converter.</a:t>
            </a:r>
          </a:p>
        </p:txBody>
      </p:sp>
      <p:sp>
        <p:nvSpPr>
          <p:cNvPr id="12" name="Shape 12"/>
          <p:cNvSpPr/>
          <p:nvPr/>
        </p:nvSpPr>
        <p:spPr>
          <a:xfrm>
            <a:off x="9488700" y="4362825"/>
            <a:ext cx="77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9768700" y="4642825"/>
            <a:ext cx="72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undefined ≠ null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undefined é "ninguém colocou valor ainda". null é "eu coloquei vazio de propósito".</a:t>
            </a:r>
          </a:p>
        </p:txBody>
      </p:sp>
      <p:sp>
        <p:nvSpPr>
          <p:cNvPr id="14" name="Shape 14"/>
          <p:cNvSpPr/>
          <p:nvPr/>
        </p:nvSpPr>
        <p:spPr>
          <a:xfrm>
            <a:off x="9488700" y="6225650"/>
            <a:ext cx="77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9768700" y="6505650"/>
            <a:ext cx="72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typeof null dá "object"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É um bug histórico da linguagem, mantido por compatibilidade. Decore e siga em frente.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Imprimindo no console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console.log() é como o programa conversa com você. Abra o navegador e aperte F12.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405368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aula.js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277368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nome = </a:t>
            </a:r>
            <a:r>
              <a:rPr lang="pt-BR" sz="24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"Ana"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nota =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8.5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</a:t>
            </a:r>
            <a:r>
              <a:rPr lang="pt-BR" sz="24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"Boas-vindas!"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);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(nome);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</a:t>
            </a:r>
            <a:r>
              <a:rPr lang="pt-BR" sz="24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"Nota:"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 nota);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(nome, </a:t>
            </a:r>
            <a:r>
              <a:rPr lang="pt-BR" sz="24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"tirou"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 nota);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2864960"/>
          </a:xfrm>
          <a:prstGeom prst="roundRect">
            <a:avLst>
              <a:gd name="adj" fmla="val 6000"/>
            </a:avLst>
          </a:prstGeom>
          <a:solidFill>
            <a:srgbClr val="1D2B24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468700" y="2840000"/>
            <a:ext cx="64106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Console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68700" y="3400000"/>
            <a:ext cx="6410600" cy="158496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Boas-vindas!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Ana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Nota: 8.5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Ana tirou 8.5</a:t>
            </a:r>
          </a:p>
        </p:txBody>
      </p:sp>
      <p:sp>
        <p:nvSpPr>
          <p:cNvPr id="13" name="Shape 13"/>
          <p:cNvSpPr/>
          <p:nvPr/>
        </p:nvSpPr>
        <p:spPr>
          <a:xfrm>
            <a:off x="10088700" y="568496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Box 14"/>
          <p:cNvSpPr txBox="1"/>
          <p:nvPr/>
        </p:nvSpPr>
        <p:spPr>
          <a:xfrm>
            <a:off x="10368700" y="596496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Vírgula, não +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Separando com vírgula o JavaScript imprime tudo com um espaço e sem misturar os tipos.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8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E88F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Pratique 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Suas variáveis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826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800"/>
              </a:lnSpc>
            </a:pPr>
            <a:r>
              <a:rPr lang="pt-BR" sz="3000" b="1">
                <a:solidFill>
                  <a:srgbClr val="0A2A1E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Crie três variáveis sobre você e imprima as três em uma única linha no console.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170000"/>
            <a:ext cx="8400000" cy="2286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nome deve ser uma string</a:t>
            </a:r>
          </a:p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idade deve ser um number</a:t>
            </a:r>
          </a:p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estudante deve ser um boolean</a:t>
            </a:r>
          </a:p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use uma única chamada de console.log com vírgulas</a:t>
            </a:r>
          </a:p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confira o tipo de cada uma com typeof</a:t>
            </a:r>
          </a:p>
        </p:txBody>
      </p:sp>
      <p:sp>
        <p:nvSpPr>
          <p:cNvPr id="8" name="Shape 8"/>
          <p:cNvSpPr/>
          <p:nvPr/>
        </p:nvSpPr>
        <p:spPr>
          <a:xfrm>
            <a:off x="9888700" y="3050000"/>
            <a:ext cx="7370600" cy="405368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10268700" y="3390000"/>
            <a:ext cx="66106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complete o código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68700" y="3950000"/>
            <a:ext cx="6610600" cy="277368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nome = ____;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idade = ____;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estudante = ____;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(____, ____, ____);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</a:t>
            </a: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typeof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idade);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Operadores aritméticos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A calculadora do JavaScript. Todos devolvem um number.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2496766" cy="150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028700" y="2750000"/>
            <a:ext cx="2496766" cy="7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4600"/>
              </a:lnSpc>
            </a:pPr>
            <a:r>
              <a:rPr lang="pt-BR" sz="4400" b="1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+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450000"/>
            <a:ext cx="2496766" cy="4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200"/>
              </a:lnSpc>
            </a:pPr>
            <a:r>
              <a:rPr lang="pt-BR" sz="1900" b="1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Soma</a:t>
            </a:r>
          </a:p>
        </p:txBody>
      </p:sp>
      <p:sp>
        <p:nvSpPr>
          <p:cNvPr id="10" name="Shape 10"/>
          <p:cNvSpPr/>
          <p:nvPr/>
        </p:nvSpPr>
        <p:spPr>
          <a:xfrm>
            <a:off x="3775466" y="2500000"/>
            <a:ext cx="2496766" cy="150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3775466" y="2750000"/>
            <a:ext cx="2496766" cy="7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4600"/>
              </a:lnSpc>
            </a:pPr>
            <a:r>
              <a:rPr lang="pt-BR" sz="4400" b="1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-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75466" y="3450000"/>
            <a:ext cx="2496766" cy="4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200"/>
              </a:lnSpc>
            </a:pPr>
            <a:r>
              <a:rPr lang="pt-BR" sz="1900" b="1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Subtração</a:t>
            </a:r>
          </a:p>
        </p:txBody>
      </p:sp>
      <p:sp>
        <p:nvSpPr>
          <p:cNvPr id="13" name="Shape 13"/>
          <p:cNvSpPr/>
          <p:nvPr/>
        </p:nvSpPr>
        <p:spPr>
          <a:xfrm>
            <a:off x="6522233" y="2500000"/>
            <a:ext cx="2496766" cy="150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Box 14"/>
          <p:cNvSpPr txBox="1"/>
          <p:nvPr/>
        </p:nvSpPr>
        <p:spPr>
          <a:xfrm>
            <a:off x="6522233" y="2750000"/>
            <a:ext cx="2496766" cy="7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4600"/>
              </a:lnSpc>
            </a:pPr>
            <a:r>
              <a:rPr lang="pt-BR" sz="4400" b="1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*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22233" y="3450000"/>
            <a:ext cx="2496766" cy="4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200"/>
              </a:lnSpc>
            </a:pPr>
            <a:r>
              <a:rPr lang="pt-BR" sz="1900" b="1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Multiplicação</a:t>
            </a:r>
          </a:p>
        </p:txBody>
      </p:sp>
      <p:sp>
        <p:nvSpPr>
          <p:cNvPr id="16" name="Shape 16"/>
          <p:cNvSpPr/>
          <p:nvPr/>
        </p:nvSpPr>
        <p:spPr>
          <a:xfrm>
            <a:off x="9269000" y="2500000"/>
            <a:ext cx="2496766" cy="150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Box 17"/>
          <p:cNvSpPr txBox="1"/>
          <p:nvPr/>
        </p:nvSpPr>
        <p:spPr>
          <a:xfrm>
            <a:off x="9269000" y="2750000"/>
            <a:ext cx="2496766" cy="7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4600"/>
              </a:lnSpc>
            </a:pPr>
            <a:r>
              <a:rPr lang="pt-BR" sz="4400" b="1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69000" y="3450000"/>
            <a:ext cx="2496766" cy="4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200"/>
              </a:lnSpc>
            </a:pPr>
            <a:r>
              <a:rPr lang="pt-BR" sz="1900" b="1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Divisão</a:t>
            </a:r>
          </a:p>
        </p:txBody>
      </p:sp>
      <p:sp>
        <p:nvSpPr>
          <p:cNvPr id="19" name="Shape 19"/>
          <p:cNvSpPr/>
          <p:nvPr/>
        </p:nvSpPr>
        <p:spPr>
          <a:xfrm>
            <a:off x="12015766" y="2500000"/>
            <a:ext cx="2496766" cy="150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Box 20"/>
          <p:cNvSpPr txBox="1"/>
          <p:nvPr/>
        </p:nvSpPr>
        <p:spPr>
          <a:xfrm>
            <a:off x="12015766" y="2750000"/>
            <a:ext cx="2496766" cy="7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4600"/>
              </a:lnSpc>
            </a:pPr>
            <a:r>
              <a:rPr lang="pt-BR" sz="4400" b="1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015766" y="3450000"/>
            <a:ext cx="2496766" cy="4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200"/>
              </a:lnSpc>
            </a:pPr>
            <a:r>
              <a:rPr lang="pt-BR" sz="1900" b="1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Resto</a:t>
            </a:r>
          </a:p>
        </p:txBody>
      </p:sp>
      <p:sp>
        <p:nvSpPr>
          <p:cNvPr id="22" name="Shape 22"/>
          <p:cNvSpPr/>
          <p:nvPr/>
        </p:nvSpPr>
        <p:spPr>
          <a:xfrm>
            <a:off x="14762533" y="2500000"/>
            <a:ext cx="2496766" cy="150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Box 23"/>
          <p:cNvSpPr txBox="1"/>
          <p:nvPr/>
        </p:nvSpPr>
        <p:spPr>
          <a:xfrm>
            <a:off x="14762533" y="2750000"/>
            <a:ext cx="2496766" cy="7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4600"/>
              </a:lnSpc>
            </a:pPr>
            <a:r>
              <a:rPr lang="pt-BR" sz="4400" b="1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**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762533" y="3450000"/>
            <a:ext cx="2496766" cy="4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200"/>
              </a:lnSpc>
            </a:pPr>
            <a:r>
              <a:rPr lang="pt-BR" sz="1900" b="1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Potência</a:t>
            </a:r>
          </a:p>
        </p:txBody>
      </p:sp>
      <p:sp>
        <p:nvSpPr>
          <p:cNvPr id="25" name="Shape 25"/>
          <p:cNvSpPr/>
          <p:nvPr/>
        </p:nvSpPr>
        <p:spPr>
          <a:xfrm>
            <a:off x="1028700" y="4400000"/>
            <a:ext cx="10300000" cy="431784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Box 26"/>
          <p:cNvSpPr txBox="1"/>
          <p:nvPr/>
        </p:nvSpPr>
        <p:spPr>
          <a:xfrm>
            <a:off x="1408700" y="4740000"/>
            <a:ext cx="95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lanchonete.js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08700" y="5300000"/>
            <a:ext cx="9540000" cy="303784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990"/>
              </a:lnSpc>
            </a:pPr>
            <a:r>
              <a:rPr lang="pt-BR" sz="23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precoLanche = </a:t>
            </a:r>
            <a:r>
              <a:rPr lang="pt-BR" sz="23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18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990"/>
              </a:lnSpc>
            </a:pPr>
            <a:r>
              <a:rPr lang="pt-BR" sz="23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precoSuco = </a:t>
            </a:r>
            <a:r>
              <a:rPr lang="pt-BR" sz="23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7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990"/>
              </a:lnSpc>
            </a:pP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990"/>
              </a:lnSpc>
            </a:pPr>
            <a:r>
              <a:rPr lang="pt-BR" sz="23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3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(precoLanche + precoSuco);  </a:t>
            </a:r>
            <a:r>
              <a:rPr lang="pt-BR" sz="23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25</a:t>
            </a:r>
          </a:p>
          <a:p>
            <a:pPr algn="l">
              <a:lnSpc>
                <a:spcPts val="2990"/>
              </a:lnSpc>
            </a:pPr>
            <a:r>
              <a:rPr lang="pt-BR" sz="23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3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(precoLanche * </a:t>
            </a:r>
            <a:r>
              <a:rPr lang="pt-BR" sz="23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3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);          </a:t>
            </a:r>
            <a:r>
              <a:rPr lang="pt-BR" sz="23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54</a:t>
            </a:r>
          </a:p>
          <a:p>
            <a:pPr algn="l">
              <a:lnSpc>
                <a:spcPts val="2990"/>
              </a:lnSpc>
            </a:pPr>
            <a:r>
              <a:rPr lang="pt-BR" sz="23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3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(precoLanche / </a:t>
            </a:r>
            <a:r>
              <a:rPr lang="pt-BR" sz="23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4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);          </a:t>
            </a:r>
            <a:r>
              <a:rPr lang="pt-BR" sz="23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4.5</a:t>
            </a:r>
          </a:p>
          <a:p>
            <a:pPr algn="l">
              <a:lnSpc>
                <a:spcPts val="2990"/>
              </a:lnSpc>
            </a:pPr>
            <a:r>
              <a:rPr lang="pt-BR" sz="23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3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</a:t>
            </a:r>
            <a:r>
              <a:rPr lang="pt-BR" sz="23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17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% </a:t>
            </a:r>
            <a:r>
              <a:rPr lang="pt-BR" sz="23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2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);                   </a:t>
            </a:r>
            <a:r>
              <a:rPr lang="pt-BR" sz="23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1 (sobra)</a:t>
            </a:r>
          </a:p>
          <a:p>
            <a:pPr algn="l">
              <a:lnSpc>
                <a:spcPts val="2990"/>
              </a:lnSpc>
            </a:pPr>
            <a:r>
              <a:rPr lang="pt-BR" sz="23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3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</a:t>
            </a:r>
            <a:r>
              <a:rPr lang="pt-BR" sz="23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2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** </a:t>
            </a:r>
            <a:r>
              <a:rPr lang="pt-BR" sz="23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10</a:t>
            </a:r>
            <a:r>
              <a:rPr lang="pt-BR" sz="23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);                  </a:t>
            </a:r>
            <a:r>
              <a:rPr lang="pt-BR" sz="23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1024</a:t>
            </a:r>
          </a:p>
        </p:txBody>
      </p:sp>
      <p:sp>
        <p:nvSpPr>
          <p:cNvPr id="28" name="Shape 28"/>
          <p:cNvSpPr/>
          <p:nvPr/>
        </p:nvSpPr>
        <p:spPr>
          <a:xfrm>
            <a:off x="11788700" y="4400000"/>
            <a:ext cx="5470600" cy="2001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Box 29"/>
          <p:cNvSpPr txBox="1"/>
          <p:nvPr/>
        </p:nvSpPr>
        <p:spPr>
          <a:xfrm>
            <a:off x="12068700" y="4680000"/>
            <a:ext cx="4910600" cy="144128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% é o resto da divisão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17 % 2 é 1, então 17 é ímpar. É assim que se testa par ou ímpar: numero % 2 === 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Operadores de atribuição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Atalhos para atualizar o valor que a variável já tem.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49122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jogo.js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36322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saldo = </a:t>
            </a:r>
            <a:r>
              <a:rPr lang="pt-BR" sz="22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100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</a:t>
            </a:r>
            <a:r>
              <a:rPr lang="pt-BR" sz="22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= atribui o valor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saldo += </a:t>
            </a:r>
            <a:r>
              <a:rPr lang="pt-BR" sz="22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50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</a:t>
            </a:r>
            <a:r>
              <a:rPr lang="pt-BR" sz="22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= saldo + 50 -&gt; 150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saldo -= </a:t>
            </a:r>
            <a:r>
              <a:rPr lang="pt-BR" sz="22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20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</a:t>
            </a:r>
            <a:r>
              <a:rPr lang="pt-BR" sz="22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130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saldo *= </a:t>
            </a:r>
            <a:r>
              <a:rPr lang="pt-BR" sz="22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2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 </a:t>
            </a:r>
            <a:r>
              <a:rPr lang="pt-BR" sz="22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260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saldo /= </a:t>
            </a:r>
            <a:r>
              <a:rPr lang="pt-BR" sz="22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4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 </a:t>
            </a:r>
            <a:r>
              <a:rPr lang="pt-BR" sz="22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65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vidas = </a:t>
            </a:r>
            <a:r>
              <a:rPr lang="pt-BR" sz="22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3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vidas++;   </a:t>
            </a:r>
            <a:r>
              <a:rPr lang="pt-BR" sz="22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4  (soma 1)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vidas--;   </a:t>
            </a:r>
            <a:r>
              <a:rPr lang="pt-BR" sz="22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3  (tira 1)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x += 5 é x = x + 5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O operador lê o valor atual, faz a conta e guarda de volta na mesma variável.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++ e -- andam de 1 em 1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Muito usados em contadores e loops: vidas--, pontos++, tentativas++.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= não é comparação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Um sinal de igual atribui. Para comparar você usa === (próximo slide).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8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E88F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Pratique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Carrinho de compras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9652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800"/>
              </a:lnSpc>
            </a:pPr>
            <a:r>
              <a:rPr lang="pt-BR" sz="3000" b="1">
                <a:solidFill>
                  <a:srgbClr val="0A2A1E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Você comprou 3 cadernos de R$ 12,90 e 2 canetas de R$ 3,50. Calcule o total e aplique 10% de desconto.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170000"/>
            <a:ext cx="8400000" cy="18288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use * para o subtotal de cada item</a:t>
            </a:r>
          </a:p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use + para somar os subtotais</a:t>
            </a:r>
          </a:p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aplique o desconto com *= 0.9</a:t>
            </a:r>
          </a:p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imprima o total antes e depois do desconto</a:t>
            </a:r>
          </a:p>
        </p:txBody>
      </p:sp>
      <p:sp>
        <p:nvSpPr>
          <p:cNvPr id="8" name="Shape 8"/>
          <p:cNvSpPr/>
          <p:nvPr/>
        </p:nvSpPr>
        <p:spPr>
          <a:xfrm>
            <a:off x="9888700" y="3050000"/>
            <a:ext cx="7370600" cy="444992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10268700" y="3390000"/>
            <a:ext cx="66106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complete o código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68700" y="3950000"/>
            <a:ext cx="6610600" cy="316992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cadernos =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3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*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12.90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canetas =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2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*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3.50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total = ____;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(total);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total *=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0.9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  </a:t>
            </a:r>
            <a:r>
              <a:rPr lang="pt-BR" sz="24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10% off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(total);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Operadores de comparação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Toda comparação devolve um boolean: true ou false.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484616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comparacao.js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356616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nota =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7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nota &gt;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6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</a:t>
            </a:r>
            <a:r>
              <a:rPr lang="pt-BR" sz="24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true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nota &gt;=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7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</a:t>
            </a:r>
            <a:r>
              <a:rPr lang="pt-BR" sz="24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true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nota &lt;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6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</a:t>
            </a:r>
            <a:r>
              <a:rPr lang="pt-BR" sz="24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false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nota !=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10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lang="pt-BR" sz="24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true  (diferente)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"7"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==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7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</a:t>
            </a:r>
            <a:r>
              <a:rPr lang="pt-BR" sz="24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true   converte o tipo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"7"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===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7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</a:t>
            </a:r>
            <a:r>
              <a:rPr lang="pt-BR" sz="24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false  compara o tipo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2001280"/>
          </a:xfrm>
          <a:prstGeom prst="roundRect">
            <a:avLst>
              <a:gd name="adj" fmla="val 7000"/>
            </a:avLst>
          </a:prstGeom>
          <a:solidFill>
            <a:srgbClr val="FFF3F1"/>
          </a:solidFill>
          <a:ln w="12700">
            <a:solidFill>
              <a:srgbClr val="F6CFC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44128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8C2F1F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Erro comum: == no lugar de ===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O == tenta converter os tipos antes de comparar, então "7" == 7 dá true e você descobre o bug muito depois. Use === e !== sempre.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82128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510128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Regra prática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=== compara valor E tipo. É o que você quer em 99% dos casos.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Operadores lógicos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Servem para combinar duas ou mais comparações em uma única resposta.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5183533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368700" y="2760000"/>
            <a:ext cx="4503533" cy="6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4000"/>
              </a:lnSpc>
            </a:pPr>
            <a:r>
              <a:rPr lang="pt-BR" sz="3800" b="1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&amp;&amp;</a:t>
            </a:r>
            <a:r>
              <a:rPr lang="pt-BR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   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68700" y="3520000"/>
            <a:ext cx="4503533" cy="8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900"/>
              </a:lnSpc>
            </a:pPr>
            <a:r>
              <a:rPr lang="pt-BR" sz="22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as duas condições precisam ser true</a:t>
            </a:r>
          </a:p>
        </p:txBody>
      </p:sp>
      <p:sp>
        <p:nvSpPr>
          <p:cNvPr id="10" name="Shape 10"/>
          <p:cNvSpPr/>
          <p:nvPr/>
        </p:nvSpPr>
        <p:spPr>
          <a:xfrm>
            <a:off x="6552233" y="2500000"/>
            <a:ext cx="5183533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6892233" y="2760000"/>
            <a:ext cx="4503533" cy="6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4000"/>
              </a:lnSpc>
            </a:pPr>
            <a:r>
              <a:rPr lang="pt-BR" sz="3800" b="1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||</a:t>
            </a:r>
            <a:r>
              <a:rPr lang="pt-BR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   OU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92233" y="3520000"/>
            <a:ext cx="4503533" cy="8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900"/>
              </a:lnSpc>
            </a:pPr>
            <a:r>
              <a:rPr lang="pt-BR" sz="22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basta uma das condições ser true</a:t>
            </a:r>
          </a:p>
        </p:txBody>
      </p:sp>
      <p:sp>
        <p:nvSpPr>
          <p:cNvPr id="13" name="Shape 13"/>
          <p:cNvSpPr/>
          <p:nvPr/>
        </p:nvSpPr>
        <p:spPr>
          <a:xfrm>
            <a:off x="12075766" y="2500000"/>
            <a:ext cx="5183533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Box 14"/>
          <p:cNvSpPr txBox="1"/>
          <p:nvPr/>
        </p:nvSpPr>
        <p:spPr>
          <a:xfrm>
            <a:off x="12415766" y="2760000"/>
            <a:ext cx="4503533" cy="6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4000"/>
              </a:lnSpc>
            </a:pPr>
            <a:r>
              <a:rPr lang="pt-BR" sz="3800" b="1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!</a:t>
            </a:r>
            <a:r>
              <a:rPr lang="pt-BR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   NÃO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15766" y="3520000"/>
            <a:ext cx="4503533" cy="8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900"/>
              </a:lnSpc>
            </a:pPr>
            <a:r>
              <a:rPr lang="pt-BR" sz="22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inverte o resultado</a:t>
            </a:r>
          </a:p>
        </p:txBody>
      </p:sp>
      <p:sp>
        <p:nvSpPr>
          <p:cNvPr id="16" name="Shape 16"/>
          <p:cNvSpPr/>
          <p:nvPr/>
        </p:nvSpPr>
        <p:spPr>
          <a:xfrm>
            <a:off x="1028700" y="4800000"/>
            <a:ext cx="10300000" cy="44169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Box 17"/>
          <p:cNvSpPr txBox="1"/>
          <p:nvPr/>
        </p:nvSpPr>
        <p:spPr>
          <a:xfrm>
            <a:off x="1408700" y="5140000"/>
            <a:ext cx="95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aprovacao.js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08700" y="5700000"/>
            <a:ext cx="9540000" cy="31369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nota = </a:t>
            </a:r>
            <a:r>
              <a:rPr lang="pt-BR" sz="19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7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presenca = </a:t>
            </a:r>
            <a:r>
              <a:rPr lang="pt-BR" sz="19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80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&amp;&amp; precisa dos DOIS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nota &gt;= </a:t>
            </a:r>
            <a:r>
              <a:rPr lang="pt-BR" sz="19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6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&amp;&amp; presenca &gt;= </a:t>
            </a:r>
            <a:r>
              <a:rPr lang="pt-BR" sz="19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75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lang="pt-BR" sz="19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true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nota &gt;= </a:t>
            </a:r>
            <a:r>
              <a:rPr lang="pt-BR" sz="19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6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&amp;&amp; presenca &gt;= </a:t>
            </a:r>
            <a:r>
              <a:rPr lang="pt-BR" sz="19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90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lang="pt-BR" sz="19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false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|| basta UM   |   ! inverte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nota &gt;= </a:t>
            </a:r>
            <a:r>
              <a:rPr lang="pt-BR" sz="19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9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|| presenca &gt;= </a:t>
            </a:r>
            <a:r>
              <a:rPr lang="pt-BR" sz="19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75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lang="pt-BR" sz="19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true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!(nota &gt;= </a:t>
            </a:r>
            <a:r>
              <a:rPr lang="pt-BR" sz="19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6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)                   </a:t>
            </a:r>
            <a:r>
              <a:rPr lang="pt-BR" sz="19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false</a:t>
            </a:r>
          </a:p>
        </p:txBody>
      </p:sp>
      <p:sp>
        <p:nvSpPr>
          <p:cNvPr id="19" name="Shape 19"/>
          <p:cNvSpPr/>
          <p:nvPr/>
        </p:nvSpPr>
        <p:spPr>
          <a:xfrm>
            <a:off x="11788700" y="4800000"/>
            <a:ext cx="5470600" cy="233973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Box 20"/>
          <p:cNvSpPr txBox="1"/>
          <p:nvPr/>
        </p:nvSpPr>
        <p:spPr>
          <a:xfrm>
            <a:off x="12068700" y="5080000"/>
            <a:ext cx="4910600" cy="177973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Leia em voz alta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"nota maior ou igual a 6 E presença maior ou igual a 75". Se a frase faz sentido em português, o código está certo.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8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E88F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Pratique 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Aprovado ou não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826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800"/>
              </a:lnSpc>
            </a:pPr>
            <a:r>
              <a:rPr lang="pt-BR" sz="3000" b="1">
                <a:solidFill>
                  <a:srgbClr val="0A2A1E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Um aluno é aprovado se tiver nota maior ou igual a 6 E presença maior ou igual a 75%.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170000"/>
            <a:ext cx="8400000" cy="18288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crie as variáveis nota e presenca</a:t>
            </a:r>
          </a:p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guarde o resultado em aprovado usando &amp;&amp;</a:t>
            </a:r>
          </a:p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imprima o boolean no console</a:t>
            </a:r>
          </a:p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teste com nota 5 e presença 90 e veja o que muda</a:t>
            </a:r>
          </a:p>
        </p:txBody>
      </p:sp>
      <p:sp>
        <p:nvSpPr>
          <p:cNvPr id="8" name="Shape 8"/>
          <p:cNvSpPr/>
          <p:nvPr/>
        </p:nvSpPr>
        <p:spPr>
          <a:xfrm>
            <a:off x="9888700" y="3050000"/>
            <a:ext cx="7370600" cy="365744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10268700" y="3390000"/>
            <a:ext cx="66106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complete o código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68700" y="3950000"/>
            <a:ext cx="6610600" cy="237744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nota =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7.5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presenca =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80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aprovado = ____ &amp;&amp; ____;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(aprovado);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Template strings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Monte textos com variáveis dentro usando acento grave (`) e ${ }.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7885300" cy="30961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1253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jeito antigo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125300" cy="18161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antes: concatenação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msg = </a:t>
            </a:r>
            <a:r>
              <a:rPr lang="pt-BR" sz="22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"Ola, "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+ nome +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pt-BR" sz="22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"! Sua nota foi "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+ nota + </a:t>
            </a:r>
            <a:r>
              <a:rPr lang="pt-BR" sz="22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"."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muitos + e fácil errar espaço</a:t>
            </a:r>
          </a:p>
        </p:txBody>
      </p:sp>
      <p:sp>
        <p:nvSpPr>
          <p:cNvPr id="10" name="Shape 10"/>
          <p:cNvSpPr/>
          <p:nvPr/>
        </p:nvSpPr>
        <p:spPr>
          <a:xfrm>
            <a:off x="9374000" y="2500000"/>
            <a:ext cx="7885300" cy="30961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9754000" y="2840000"/>
            <a:ext cx="71253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jeito bom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54000" y="3400000"/>
            <a:ext cx="7125300" cy="18161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agora: template string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msg = `Ola, ${nome}!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Sua nota foi ${nota}.`;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aceita conta: ${nota * 2}</a:t>
            </a:r>
          </a:p>
        </p:txBody>
      </p:sp>
      <p:sp>
        <p:nvSpPr>
          <p:cNvPr id="13" name="Shape 13"/>
          <p:cNvSpPr/>
          <p:nvPr/>
        </p:nvSpPr>
        <p:spPr>
          <a:xfrm>
            <a:off x="1028700" y="5976100"/>
            <a:ext cx="5183533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Box 14"/>
          <p:cNvSpPr txBox="1"/>
          <p:nvPr/>
        </p:nvSpPr>
        <p:spPr>
          <a:xfrm>
            <a:off x="1308700" y="6256100"/>
            <a:ext cx="4623533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` não é '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Fica na tecla antes do 1, no teclado ABNT.</a:t>
            </a:r>
          </a:p>
        </p:txBody>
      </p:sp>
      <p:sp>
        <p:nvSpPr>
          <p:cNvPr id="15" name="Shape 15"/>
          <p:cNvSpPr/>
          <p:nvPr/>
        </p:nvSpPr>
        <p:spPr>
          <a:xfrm>
            <a:off x="6552233" y="5976100"/>
            <a:ext cx="5183533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Box 16"/>
          <p:cNvSpPr txBox="1"/>
          <p:nvPr/>
        </p:nvSpPr>
        <p:spPr>
          <a:xfrm>
            <a:off x="6832233" y="6256100"/>
            <a:ext cx="4623533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${ } aceita expressão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Cabe soma, multiplicação e até chamar função.</a:t>
            </a:r>
          </a:p>
        </p:txBody>
      </p:sp>
      <p:sp>
        <p:nvSpPr>
          <p:cNvPr id="17" name="Shape 17"/>
          <p:cNvSpPr/>
          <p:nvPr/>
        </p:nvSpPr>
        <p:spPr>
          <a:xfrm>
            <a:off x="12075766" y="5976100"/>
            <a:ext cx="5183533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Box 18"/>
          <p:cNvSpPr txBox="1"/>
          <p:nvPr/>
        </p:nvSpPr>
        <p:spPr>
          <a:xfrm>
            <a:off x="12355766" y="6256100"/>
            <a:ext cx="4623533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Quebra linha de graça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A quebra que você escrever é preservada.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Arrays: listas de valores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Um array guarda vários valores em uma única variável, na ordem em que você colocou.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47471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materias.js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34671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730"/>
              </a:lnSpc>
            </a:pPr>
            <a:r>
              <a:rPr lang="pt-BR" sz="21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materias = [</a:t>
            </a:r>
            <a:r>
              <a:rPr lang="pt-BR" sz="21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"Matematica"</a:t>
            </a: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 </a:t>
            </a:r>
            <a:r>
              <a:rPr lang="pt-BR" sz="21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"Portugues"</a:t>
            </a: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</a:t>
            </a:r>
          </a:p>
          <a:p>
            <a:pPr algn="l">
              <a:lnSpc>
                <a:spcPts val="2730"/>
              </a:lnSpc>
            </a:pP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</a:t>
            </a:r>
            <a:r>
              <a:rPr lang="pt-BR" sz="21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"Historia"</a:t>
            </a: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];</a:t>
            </a:r>
          </a:p>
          <a:p>
            <a:pPr algn="l">
              <a:lnSpc>
                <a:spcPts val="2730"/>
              </a:lnSpc>
            </a:pP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730"/>
              </a:lnSpc>
            </a:pP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materias[</a:t>
            </a:r>
            <a:r>
              <a:rPr lang="pt-BR" sz="21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0</a:t>
            </a: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]        </a:t>
            </a:r>
            <a:r>
              <a:rPr lang="pt-BR" sz="21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"Matematica"</a:t>
            </a:r>
          </a:p>
          <a:p>
            <a:pPr algn="l">
              <a:lnSpc>
                <a:spcPts val="2730"/>
              </a:lnSpc>
            </a:pP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materias[</a:t>
            </a:r>
            <a:r>
              <a:rPr lang="pt-BR" sz="21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2</a:t>
            </a: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]        </a:t>
            </a:r>
            <a:r>
              <a:rPr lang="pt-BR" sz="21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"Historia"</a:t>
            </a:r>
          </a:p>
          <a:p>
            <a:pPr algn="l">
              <a:lnSpc>
                <a:spcPts val="2730"/>
              </a:lnSpc>
            </a:pP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materias</a:t>
            </a:r>
            <a:r>
              <a:rPr lang="pt-BR" sz="21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.length</a:t>
            </a: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</a:t>
            </a:r>
            <a:r>
              <a:rPr lang="pt-BR" sz="21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3</a:t>
            </a:r>
          </a:p>
          <a:p>
            <a:pPr algn="l">
              <a:lnSpc>
                <a:spcPts val="2730"/>
              </a:lnSpc>
            </a:pP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730"/>
              </a:lnSpc>
            </a:pP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materias</a:t>
            </a:r>
            <a:r>
              <a:rPr lang="pt-BR" sz="21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.push</a:t>
            </a: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</a:t>
            </a:r>
            <a:r>
              <a:rPr lang="pt-BR" sz="21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"Fisica"</a:t>
            </a: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);    </a:t>
            </a:r>
            <a:r>
              <a:rPr lang="pt-BR" sz="21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adiciona no fim</a:t>
            </a:r>
          </a:p>
          <a:p>
            <a:pPr algn="l">
              <a:lnSpc>
                <a:spcPts val="2730"/>
              </a:lnSpc>
            </a:pP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materias</a:t>
            </a:r>
            <a:r>
              <a:rPr lang="pt-BR" sz="21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.pop</a:t>
            </a: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();             </a:t>
            </a:r>
            <a:r>
              <a:rPr lang="pt-BR" sz="21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remove do fim</a:t>
            </a:r>
          </a:p>
          <a:p>
            <a:pPr algn="l">
              <a:lnSpc>
                <a:spcPts val="2730"/>
              </a:lnSpc>
            </a:pP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materias</a:t>
            </a:r>
            <a:r>
              <a:rPr lang="pt-BR" sz="21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.indexOf</a:t>
            </a: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</a:t>
            </a:r>
            <a:r>
              <a:rPr lang="pt-BR" sz="21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"Portugues"</a:t>
            </a:r>
            <a:r>
              <a:rPr lang="pt-BR" sz="21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);   </a:t>
            </a:r>
            <a:r>
              <a:rPr lang="pt-BR" sz="21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1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O índice começa em 0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O primeiro item é [0], o segundo é [1]. Num array de 3 itens, o último é [2].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length é a quantidade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Não é o último índice. O último índice é sempre length - 1.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push, pop, indexOf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push adiciona no fim, pop remove do fim, indexOf devolve a posição ou -1 se não achar.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Percorrendo um array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Duas formas de visitar item por item. Escolha a que deixa o código mais claro.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7885300" cy="347583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1253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for clássico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125300" cy="219583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notas = [</a:t>
            </a:r>
            <a:r>
              <a:rPr lang="pt-BR" sz="19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8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 </a:t>
            </a:r>
            <a:r>
              <a:rPr lang="pt-BR" sz="19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6.5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 </a:t>
            </a:r>
            <a:r>
              <a:rPr lang="pt-BR" sz="19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9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 </a:t>
            </a:r>
            <a:r>
              <a:rPr lang="pt-BR" sz="19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7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];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for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(</a:t>
            </a:r>
            <a:r>
              <a:rPr lang="pt-BR" sz="19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i = </a:t>
            </a:r>
            <a:r>
              <a:rPr lang="pt-BR" sz="19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0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i &lt; notas</a:t>
            </a:r>
            <a:r>
              <a:rPr lang="pt-BR" sz="19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.length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 i++) {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pt-BR" sz="19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19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</a:t>
            </a:r>
            <a:r>
              <a:rPr lang="pt-BR" sz="19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`Nota ${i + 1}: ${notas[i]}`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);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use quando precisar do índice</a:t>
            </a:r>
          </a:p>
        </p:txBody>
      </p:sp>
      <p:sp>
        <p:nvSpPr>
          <p:cNvPr id="10" name="Shape 10"/>
          <p:cNvSpPr/>
          <p:nvPr/>
        </p:nvSpPr>
        <p:spPr>
          <a:xfrm>
            <a:off x="9374000" y="2500000"/>
            <a:ext cx="7885300" cy="347583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9754000" y="2840000"/>
            <a:ext cx="71253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for...of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54000" y="3400000"/>
            <a:ext cx="7125300" cy="219583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notas = [</a:t>
            </a:r>
            <a:r>
              <a:rPr lang="pt-BR" sz="19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8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 </a:t>
            </a:r>
            <a:r>
              <a:rPr lang="pt-BR" sz="19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6.5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 </a:t>
            </a:r>
            <a:r>
              <a:rPr lang="pt-BR" sz="19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9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 </a:t>
            </a:r>
            <a:r>
              <a:rPr lang="pt-BR" sz="19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7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];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for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(</a:t>
            </a:r>
            <a:r>
              <a:rPr lang="pt-BR" sz="19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nota </a:t>
            </a:r>
            <a:r>
              <a:rPr lang="pt-BR" sz="19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of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notas) {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pt-BR" sz="19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19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(nota);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470"/>
              </a:lnSpc>
            </a:pPr>
            <a:r>
              <a:rPr lang="pt-BR" sz="19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use quando só quer o valor</a:t>
            </a:r>
          </a:p>
        </p:txBody>
      </p:sp>
      <p:sp>
        <p:nvSpPr>
          <p:cNvPr id="13" name="Shape 13"/>
          <p:cNvSpPr/>
          <p:nvPr/>
        </p:nvSpPr>
        <p:spPr>
          <a:xfrm>
            <a:off x="1028700" y="6355830"/>
            <a:ext cx="79453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Box 14"/>
          <p:cNvSpPr txBox="1"/>
          <p:nvPr/>
        </p:nvSpPr>
        <p:spPr>
          <a:xfrm>
            <a:off x="1308700" y="6635830"/>
            <a:ext cx="73853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i &lt; notas.length, nunca &lt;=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Com &lt;= você tenta acessar uma posição que não existe e recebe undefined.</a:t>
            </a:r>
          </a:p>
        </p:txBody>
      </p:sp>
      <p:sp>
        <p:nvSpPr>
          <p:cNvPr id="15" name="Shape 15"/>
          <p:cNvSpPr/>
          <p:nvPr/>
        </p:nvSpPr>
        <p:spPr>
          <a:xfrm>
            <a:off x="9314000" y="6355830"/>
            <a:ext cx="79453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Box 16"/>
          <p:cNvSpPr txBox="1"/>
          <p:nvPr/>
        </p:nvSpPr>
        <p:spPr>
          <a:xfrm>
            <a:off x="9594000" y="6635830"/>
            <a:ext cx="73853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Somando dentro do loop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Crie soma = 0 antes do for e use soma += nota dentro. No fim, divida por notas.length.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8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E88F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Pratique 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Média das notas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9652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800"/>
              </a:lnSpc>
            </a:pPr>
            <a:r>
              <a:rPr lang="pt-BR" sz="3000" b="1">
                <a:solidFill>
                  <a:srgbClr val="0A2A1E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Com o array [8, 6.5, 9, 7]: imprima cada nota, some todas e mostre a média com template string.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170000"/>
            <a:ext cx="8400000" cy="18288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percorra com for...of</a:t>
            </a:r>
          </a:p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acumule em soma usando +=</a:t>
            </a:r>
          </a:p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média é soma dividida por notas.length</a:t>
            </a:r>
          </a:p>
          <a:p>
            <a:pPr marL="520700" indent="-520700" algn="l">
              <a:lnSpc>
                <a:spcPts val="3600"/>
              </a:lnSpc>
              <a:buFont typeface="Arial"/>
              <a:buChar char="•"/>
            </a:pPr>
            <a:r>
              <a:rPr lang="pt-BR" sz="2500">
                <a:solidFill>
                  <a:srgbClr val="0A2A1E"/>
                </a:solidFill>
                <a:latin typeface="Arial"/>
                <a:ea typeface="Arial"/>
                <a:cs typeface="Arial"/>
                <a:sym typeface="Arial"/>
              </a:rPr>
              <a:t xml:space="preserve">imprima com `A média é ${media}`</a:t>
            </a:r>
          </a:p>
        </p:txBody>
      </p:sp>
      <p:sp>
        <p:nvSpPr>
          <p:cNvPr id="8" name="Shape 8"/>
          <p:cNvSpPr/>
          <p:nvPr/>
        </p:nvSpPr>
        <p:spPr>
          <a:xfrm>
            <a:off x="9888700" y="3050000"/>
            <a:ext cx="7370600" cy="484616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10268700" y="3390000"/>
            <a:ext cx="66106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complete o código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68700" y="3950000"/>
            <a:ext cx="6610600" cy="356616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notas = [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8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6.5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9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7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];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soma = </a:t>
            </a:r>
            <a:r>
              <a:rPr lang="pt-BR" sz="24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0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for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(</a:t>
            </a: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 </a:t>
            </a: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of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notas) {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soma ____;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media = ____ / ____;</a:t>
            </a:r>
          </a:p>
          <a:p>
            <a:pPr algn="l">
              <a:lnSpc>
                <a:spcPts val="3120"/>
              </a:lnSpc>
            </a:pP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4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</a:t>
            </a:r>
            <a:r>
              <a:rPr lang="pt-BR" sz="24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`A media e ${media}`</a:t>
            </a:r>
            <a:r>
              <a:rPr lang="pt-BR" sz="24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Funções declaradas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Um bloco de código com nome, que você escreve uma vez e usa quantas vezes quiser.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454898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funcoes.js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326898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function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calcularMedia(n1, n2) {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pt-BR" sz="22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media = (n1 + n2) / </a:t>
            </a:r>
            <a:r>
              <a:rPr lang="pt-BR" sz="22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2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;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pt-BR" sz="22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return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media;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resultado = calcularMedia(</a:t>
            </a:r>
            <a:r>
              <a:rPr lang="pt-BR" sz="22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8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 </a:t>
            </a:r>
            <a:r>
              <a:rPr lang="pt-BR" sz="22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6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);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2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</a:t>
            </a:r>
            <a:r>
              <a:rPr lang="pt-BR" sz="2200">
                <a:solidFill>
                  <a:srgbClr val="FFD866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`Media: ${resultado}`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);  </a:t>
            </a:r>
            <a:r>
              <a:rPr lang="pt-BR" sz="22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7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calcularMedia(</a:t>
            </a:r>
            <a:r>
              <a:rPr lang="pt-BR" sz="22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10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 </a:t>
            </a:r>
            <a:r>
              <a:rPr lang="pt-BR" sz="22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5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);   </a:t>
            </a:r>
            <a:r>
              <a:rPr lang="pt-BR" sz="22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7.5  reaproveitando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function nome(...)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A palavra function, o nome da função e os parâmetros entre parênteses.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Parâmetros são apelidos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n1 e n2 só existem dentro da função. Na chamada você passa os valores reais (argumentos).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return devolve o valor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Sem return a função executa mas não entrega nada. E o código depois do return não roda.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Shape 3"/>
          <p:cNvSpPr/>
          <p:nvPr/>
        </p:nvSpPr>
        <p:spPr>
          <a:xfrm>
            <a:off x="1028700" y="700000"/>
            <a:ext cx="850000" cy="850000"/>
          </a:xfrm>
          <a:prstGeom prst="roundRect">
            <a:avLst>
              <a:gd name="adj" fmla="val 22000"/>
            </a:avLst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865000"/>
            <a:ext cx="850000" cy="6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300"/>
              </a:lnSpc>
            </a:pPr>
            <a:r>
              <a:rPr lang="pt-BR" sz="3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700" y="760000"/>
            <a:ext cx="1498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54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Funções: erros comuns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Três coisas que fazem a função parecer quebrada quando não está.</a:t>
            </a:r>
          </a:p>
        </p:txBody>
      </p:sp>
      <p:sp>
        <p:nvSpPr>
          <p:cNvPr id="7" name="Shape 7"/>
          <p:cNvSpPr/>
          <p:nvPr/>
        </p:nvSpPr>
        <p:spPr>
          <a:xfrm>
            <a:off x="1028700" y="2500000"/>
            <a:ext cx="8600000" cy="4912200"/>
          </a:xfrm>
          <a:prstGeom prst="roundRect">
            <a:avLst>
              <a:gd name="adj" fmla="val 6000"/>
            </a:avLst>
          </a:prstGeom>
          <a:solidFill>
            <a:srgbClr val="0E1A1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408700" y="2840000"/>
            <a:ext cx="7840000" cy="42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200"/>
              </a:lnSpc>
            </a:pPr>
            <a:r>
              <a:rPr lang="pt-BR" sz="1800" b="1">
                <a:solidFill>
                  <a:srgbClr val="8A9199"/>
                </a:solidFill>
                <a:latin typeface="Arial"/>
                <a:ea typeface="Arial"/>
                <a:cs typeface="Arial"/>
                <a:sym typeface="Arial"/>
              </a:rPr>
              <a:t xml:space="preserve">o bug clássico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8700" y="3400000"/>
            <a:ext cx="7840000" cy="36322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function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somar(a, b) {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pt-BR" sz="22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2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(a + b);   </a:t>
            </a:r>
            <a:r>
              <a:rPr lang="pt-BR" sz="22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só mostra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let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x = somar(</a:t>
            </a:r>
            <a:r>
              <a:rPr lang="pt-BR" sz="22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2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 </a:t>
            </a:r>
            <a:r>
              <a:rPr lang="pt-BR" sz="22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3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);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2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(x);   </a:t>
            </a:r>
            <a:r>
              <a:rPr lang="pt-BR" sz="22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undefined!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function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somarOk(a, b) {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pt-BR" sz="2200">
                <a:solidFill>
                  <a:srgbClr val="00E88F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return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a + b;         </a:t>
            </a:r>
            <a:r>
              <a:rPr lang="pt-BR" sz="22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devolve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  <a:p>
            <a:pPr algn="l">
              <a:lnSpc>
                <a:spcPts val="2860"/>
              </a:lnSpc>
            </a:pPr>
            <a:r>
              <a:rPr lang="pt-BR" sz="22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console</a:t>
            </a:r>
            <a:r>
              <a:rPr lang="pt-BR" sz="2200">
                <a:solidFill>
                  <a:srgbClr val="78DCE8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.log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(somarOk(</a:t>
            </a:r>
            <a:r>
              <a:rPr lang="pt-BR" sz="22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2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, </a:t>
            </a:r>
            <a:r>
              <a:rPr lang="pt-BR" sz="2200">
                <a:solidFill>
                  <a:srgbClr val="AB9DF2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3</a:t>
            </a:r>
            <a:r>
              <a:rPr lang="pt-BR" sz="2200">
                <a:solidFill>
                  <a:srgbClr val="F2F5F3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));   </a:t>
            </a:r>
            <a:r>
              <a:rPr lang="pt-BR" sz="2200">
                <a:solidFill>
                  <a:srgbClr val="8A9199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// 5</a:t>
            </a:r>
          </a:p>
        </p:txBody>
      </p:sp>
      <p:sp>
        <p:nvSpPr>
          <p:cNvPr id="10" name="Shape 10"/>
          <p:cNvSpPr/>
          <p:nvPr/>
        </p:nvSpPr>
        <p:spPr>
          <a:xfrm>
            <a:off x="10088700" y="250000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3F1"/>
          </a:solidFill>
          <a:ln w="12700">
            <a:solidFill>
              <a:srgbClr val="F6CFC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368700" y="278000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8C2F1F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Esquecer o return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console.log mostra na tela, return entrega o valor para quem chamou. São coisas diferentes.</a:t>
            </a:r>
          </a:p>
        </p:txBody>
      </p:sp>
      <p:sp>
        <p:nvSpPr>
          <p:cNvPr id="12" name="Shape 12"/>
          <p:cNvSpPr/>
          <p:nvPr/>
        </p:nvSpPr>
        <p:spPr>
          <a:xfrm>
            <a:off x="10088700" y="4362825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368700" y="4642825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Declarar e não chamar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function somar() {...} só define. Nada acontece até você escrever somar(2, 3).</a:t>
            </a:r>
          </a:p>
        </p:txBody>
      </p:sp>
      <p:sp>
        <p:nvSpPr>
          <p:cNvPr id="14" name="Shape 14"/>
          <p:cNvSpPr/>
          <p:nvPr/>
        </p:nvSpPr>
        <p:spPr>
          <a:xfrm>
            <a:off x="10088700" y="6225650"/>
            <a:ext cx="7170600" cy="16628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0368700" y="6505650"/>
            <a:ext cx="6610600" cy="110282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645"/>
              </a:lnSpc>
            </a:pPr>
            <a:r>
              <a:rPr lang="pt-BR" sz="2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Nome no plural do que faz</a:t>
            </a:r>
          </a:p>
          <a:p>
            <a:pPr algn="l">
              <a:lnSpc>
                <a:spcPts val="2665"/>
              </a:lnSpc>
              <a:spcBef>
                <a:spcPts val="900"/>
              </a:spcBef>
            </a:pPr>
            <a:r>
              <a:rPr lang="pt-BR" sz="205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Dê nomes de ação: calcularMedia, somarNotas, exibirBoasVindas. Facilita ler depois.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14634630" y="8329923"/>
            <a:ext cx="2624670" cy="928377"/>
          </a:xfrm>
          <a:custGeom>
            <a:avLst/>
            <a:gdLst/>
            <a:ahLst/>
            <a:cxnLst/>
            <a:rect l="l" t="t" r="r" b="b"/>
            <a:pathLst>
              <a:path w="2624670" h="928377">
                <a:moveTo>
                  <a:pt x="0" y="0"/>
                </a:moveTo>
                <a:lnTo>
                  <a:pt x="2624670" y="0"/>
                </a:lnTo>
                <a:lnTo>
                  <a:pt x="2624670" y="928377"/>
                </a:lnTo>
                <a:lnTo>
                  <a:pt x="0" y="92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28700" y="760000"/>
            <a:ext cx="16230600" cy="9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5500"/>
              </a:lnSpc>
            </a:pPr>
            <a:r>
              <a:rPr lang="pt-BR" sz="6200" b="1" spc="-16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 xml:space="preserve">Quiz de revisão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900000"/>
            <a:ext cx="16230600" cy="4445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00"/>
              </a:lnSpc>
            </a:pPr>
            <a:r>
              <a:rPr lang="pt-BR" sz="2700">
                <a:solidFill>
                  <a:srgbClr val="5B6660"/>
                </a:solidFill>
                <a:latin typeface="Arial"/>
                <a:ea typeface="Arial"/>
                <a:cs typeface="Arial"/>
                <a:sym typeface="Arial"/>
              </a:rPr>
              <a:t xml:space="preserve">Responda sem rodar o código. Depois testamos no console juntos.</a:t>
            </a:r>
          </a:p>
        </p:txBody>
      </p:sp>
      <p:sp>
        <p:nvSpPr>
          <p:cNvPr id="5" name="Shape 5"/>
          <p:cNvSpPr/>
          <p:nvPr/>
        </p:nvSpPr>
        <p:spPr>
          <a:xfrm>
            <a:off x="1028700" y="2500000"/>
            <a:ext cx="7885300" cy="14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6"/>
          <p:cNvSpPr/>
          <p:nvPr/>
        </p:nvSpPr>
        <p:spPr>
          <a:xfrm>
            <a:off x="1348700" y="2820000"/>
            <a:ext cx="640000" cy="64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1348700" y="2950000"/>
            <a:ext cx="640000" cy="4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300"/>
              </a:lnSpc>
            </a:pPr>
            <a:r>
              <a:rPr lang="pt-BR" sz="2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08700" y="2830000"/>
            <a:ext cx="6385300" cy="79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Qual é o tipo de true?</a:t>
            </a:r>
          </a:p>
        </p:txBody>
      </p:sp>
      <p:sp>
        <p:nvSpPr>
          <p:cNvPr id="9" name="Shape 9"/>
          <p:cNvSpPr/>
          <p:nvPr/>
        </p:nvSpPr>
        <p:spPr>
          <a:xfrm>
            <a:off x="9374000" y="2500000"/>
            <a:ext cx="7885300" cy="14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10"/>
          <p:cNvSpPr/>
          <p:nvPr/>
        </p:nvSpPr>
        <p:spPr>
          <a:xfrm>
            <a:off x="9694000" y="2820000"/>
            <a:ext cx="640000" cy="64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9694000" y="2950000"/>
            <a:ext cx="640000" cy="4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300"/>
              </a:lnSpc>
            </a:pPr>
            <a:r>
              <a:rPr lang="pt-BR" sz="2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54000" y="2830000"/>
            <a:ext cx="6385300" cy="79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O que aparece em console.log("20" + 5)?</a:t>
            </a:r>
          </a:p>
        </p:txBody>
      </p:sp>
      <p:sp>
        <p:nvSpPr>
          <p:cNvPr id="13" name="Shape 13"/>
          <p:cNvSpPr/>
          <p:nvPr/>
        </p:nvSpPr>
        <p:spPr>
          <a:xfrm>
            <a:off x="1028700" y="4230000"/>
            <a:ext cx="7885300" cy="14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4"/>
          <p:cNvSpPr/>
          <p:nvPr/>
        </p:nvSpPr>
        <p:spPr>
          <a:xfrm>
            <a:off x="1348700" y="4550000"/>
            <a:ext cx="640000" cy="64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348700" y="4680000"/>
            <a:ext cx="640000" cy="4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300"/>
              </a:lnSpc>
            </a:pPr>
            <a:r>
              <a:rPr lang="pt-BR" sz="2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08700" y="4560000"/>
            <a:ext cx="6385300" cy="79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Qual a diferença entre == e ===?</a:t>
            </a:r>
          </a:p>
        </p:txBody>
      </p:sp>
      <p:sp>
        <p:nvSpPr>
          <p:cNvPr id="17" name="Shape 17"/>
          <p:cNvSpPr/>
          <p:nvPr/>
        </p:nvSpPr>
        <p:spPr>
          <a:xfrm>
            <a:off x="9374000" y="4230000"/>
            <a:ext cx="7885300" cy="14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8"/>
          <p:cNvSpPr/>
          <p:nvPr/>
        </p:nvSpPr>
        <p:spPr>
          <a:xfrm>
            <a:off x="9694000" y="4550000"/>
            <a:ext cx="640000" cy="64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Box 19"/>
          <p:cNvSpPr txBox="1"/>
          <p:nvPr/>
        </p:nvSpPr>
        <p:spPr>
          <a:xfrm>
            <a:off x="9694000" y="4680000"/>
            <a:ext cx="640000" cy="4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300"/>
              </a:lnSpc>
            </a:pPr>
            <a:r>
              <a:rPr lang="pt-BR" sz="2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54000" y="4560000"/>
            <a:ext cx="6385300" cy="79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Em [10, 20, 30], quanto vale .length e o item [1]?</a:t>
            </a:r>
          </a:p>
        </p:txBody>
      </p:sp>
      <p:sp>
        <p:nvSpPr>
          <p:cNvPr id="21" name="Shape 21"/>
          <p:cNvSpPr/>
          <p:nvPr/>
        </p:nvSpPr>
        <p:spPr>
          <a:xfrm>
            <a:off x="1028700" y="5960000"/>
            <a:ext cx="7885300" cy="14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2"/>
          <p:cNvSpPr/>
          <p:nvPr/>
        </p:nvSpPr>
        <p:spPr>
          <a:xfrm>
            <a:off x="1348700" y="6280000"/>
            <a:ext cx="640000" cy="64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Box 23"/>
          <p:cNvSpPr txBox="1"/>
          <p:nvPr/>
        </p:nvSpPr>
        <p:spPr>
          <a:xfrm>
            <a:off x="1348700" y="6410000"/>
            <a:ext cx="640000" cy="4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300"/>
              </a:lnSpc>
            </a:pPr>
            <a:r>
              <a:rPr lang="pt-BR" sz="2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08700" y="6290000"/>
            <a:ext cx="6385300" cy="79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O que a função devolve se você esquecer o return?</a:t>
            </a:r>
          </a:p>
        </p:txBody>
      </p:sp>
      <p:sp>
        <p:nvSpPr>
          <p:cNvPr id="25" name="Shape 25"/>
          <p:cNvSpPr/>
          <p:nvPr/>
        </p:nvSpPr>
        <p:spPr>
          <a:xfrm>
            <a:off x="9374000" y="5960000"/>
            <a:ext cx="7885300" cy="14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6"/>
          <p:cNvSpPr/>
          <p:nvPr/>
        </p:nvSpPr>
        <p:spPr>
          <a:xfrm>
            <a:off x="9694000" y="6280000"/>
            <a:ext cx="640000" cy="640000"/>
          </a:xfrm>
          <a:prstGeom prst="ellipse">
            <a:avLst/>
          </a:prstGeom>
          <a:solidFill>
            <a:srgbClr val="00E8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Box 27"/>
          <p:cNvSpPr txBox="1"/>
          <p:nvPr/>
        </p:nvSpPr>
        <p:spPr>
          <a:xfrm>
            <a:off x="9694000" y="6410000"/>
            <a:ext cx="640000" cy="4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300"/>
              </a:lnSpc>
            </a:pPr>
            <a:r>
              <a:rPr lang="pt-BR" sz="2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 xml:space="preserve">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554000" y="6290000"/>
            <a:ext cx="6385300" cy="79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100"/>
              </a:lnSpc>
            </a:pPr>
            <a:r>
              <a:rPr lang="pt-B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Como escrever "Oi, Ana!" usando template string?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8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6076" y="9423768"/>
            <a:ext cx="505044" cy="571548"/>
            <a:chOff x="0" y="0"/>
            <a:chExt cx="673392" cy="762064"/>
          </a:xfrm>
        </p:grpSpPr>
        <p:sp>
          <p:nvSpPr>
            <p:cNvPr id="3" name="Freeform 3" descr="Image"/>
            <p:cNvSpPr/>
            <p:nvPr/>
          </p:nvSpPr>
          <p:spPr>
            <a:xfrm>
              <a:off x="0" y="0"/>
              <a:ext cx="673354" cy="762127"/>
            </a:xfrm>
            <a:custGeom>
              <a:avLst/>
              <a:gdLst/>
              <a:ahLst/>
              <a:cxnLst/>
              <a:rect l="l" t="t" r="r" b="b"/>
              <a:pathLst>
                <a:path w="673354" h="762127">
                  <a:moveTo>
                    <a:pt x="0" y="0"/>
                  </a:moveTo>
                  <a:lnTo>
                    <a:pt x="673354" y="0"/>
                  </a:lnTo>
                  <a:lnTo>
                    <a:pt x="673354" y="762127"/>
                  </a:lnTo>
                  <a:lnTo>
                    <a:pt x="0" y="762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5" b="-13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06076" y="9423768"/>
            <a:ext cx="505044" cy="571557"/>
            <a:chOff x="0" y="0"/>
            <a:chExt cx="673392" cy="762076"/>
          </a:xfrm>
        </p:grpSpPr>
        <p:sp>
          <p:nvSpPr>
            <p:cNvPr id="5" name="Freeform 5" descr="Image"/>
            <p:cNvSpPr/>
            <p:nvPr/>
          </p:nvSpPr>
          <p:spPr>
            <a:xfrm>
              <a:off x="0" y="0"/>
              <a:ext cx="673354" cy="762127"/>
            </a:xfrm>
            <a:custGeom>
              <a:avLst/>
              <a:gdLst/>
              <a:ahLst/>
              <a:cxnLst/>
              <a:rect l="l" t="t" r="r" b="b"/>
              <a:pathLst>
                <a:path w="673354" h="762127">
                  <a:moveTo>
                    <a:pt x="0" y="0"/>
                  </a:moveTo>
                  <a:lnTo>
                    <a:pt x="673354" y="0"/>
                  </a:lnTo>
                  <a:lnTo>
                    <a:pt x="673354" y="762127"/>
                  </a:lnTo>
                  <a:lnTo>
                    <a:pt x="0" y="762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5" b="-13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615591" y="364017"/>
            <a:ext cx="9286408" cy="9558976"/>
            <a:chOff x="0" y="0"/>
            <a:chExt cx="12381878" cy="12745301"/>
          </a:xfrm>
        </p:grpSpPr>
        <p:sp>
          <p:nvSpPr>
            <p:cNvPr id="7" name="Freeform 7" descr="Image"/>
            <p:cNvSpPr/>
            <p:nvPr/>
          </p:nvSpPr>
          <p:spPr>
            <a:xfrm>
              <a:off x="0" y="0"/>
              <a:ext cx="12381865" cy="12745339"/>
            </a:xfrm>
            <a:custGeom>
              <a:avLst/>
              <a:gdLst/>
              <a:ahLst/>
              <a:cxnLst/>
              <a:rect l="l" t="t" r="r" b="b"/>
              <a:pathLst>
                <a:path w="12381865" h="12745339">
                  <a:moveTo>
                    <a:pt x="0" y="0"/>
                  </a:moveTo>
                  <a:lnTo>
                    <a:pt x="12381865" y="0"/>
                  </a:lnTo>
                  <a:lnTo>
                    <a:pt x="12381865" y="12745339"/>
                  </a:lnTo>
                  <a:lnTo>
                    <a:pt x="0" y="12745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0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80692" y="1031843"/>
            <a:ext cx="6774980" cy="954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60"/>
              </a:lnSpc>
            </a:pPr>
            <a:r>
              <a:rPr lang="en-US" sz="70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Bom código!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633118" y="9538097"/>
            <a:ext cx="226504" cy="255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500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53123" y="5170170"/>
            <a:ext cx="6300000" cy="145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Riad Younes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Próxima aula: objetos e DOM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 dúvida é bem-vinda.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432</Words>
  <Application>Microsoft Office PowerPoint</Application>
  <PresentationFormat>Personalizar</PresentationFormat>
  <Paragraphs>70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7" baseType="lpstr">
      <vt:lpstr>Arial Bold</vt:lpstr>
      <vt:lpstr>Poppins Bold</vt:lpstr>
      <vt:lpstr>Arial</vt:lpstr>
      <vt:lpstr>Roboto</vt:lpstr>
      <vt:lpstr>Barlow SemiCondensed Bold</vt:lpstr>
      <vt:lpstr>Calibri</vt:lpstr>
      <vt:lpstr>Roboto Bold</vt:lpstr>
      <vt:lpstr>Poppins Medium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Projetos Integradores de Extensão</dc:title>
  <dc:creator>Adri</dc:creator>
  <cp:lastModifiedBy>Adriane Cristina Guerino</cp:lastModifiedBy>
  <cp:revision>3</cp:revision>
  <dcterms:created xsi:type="dcterms:W3CDTF">2006-08-16T00:00:00Z</dcterms:created>
  <dcterms:modified xsi:type="dcterms:W3CDTF">2026-07-15T23:27:11Z</dcterms:modified>
  <dc:identifier>DAHPdlzNDeY</dc:identifier>
</cp:coreProperties>
</file>